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3"/>
  </p:notesMasterIdLst>
  <p:sldIdLst>
    <p:sldId id="256" r:id="rId2"/>
    <p:sldId id="265" r:id="rId3"/>
    <p:sldId id="264" r:id="rId4"/>
    <p:sldId id="258" r:id="rId5"/>
    <p:sldId id="259" r:id="rId6"/>
    <p:sldId id="261" r:id="rId7"/>
    <p:sldId id="260" r:id="rId8"/>
    <p:sldId id="262" r:id="rId9"/>
    <p:sldId id="263" r:id="rId10"/>
    <p:sldId id="257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6465" autoAdjust="0"/>
  </p:normalViewPr>
  <p:slideViewPr>
    <p:cSldViewPr snapToGrid="0">
      <p:cViewPr varScale="1">
        <p:scale>
          <a:sx n="100" d="100"/>
          <a:sy n="100" d="100"/>
        </p:scale>
        <p:origin x="852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14BF9-16F5-4039-88DC-630D0726E6A0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5915B-9BBD-4B02-A487-D4CE5E44E4C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19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Give an outline of the presentation</a:t>
            </a:r>
          </a:p>
          <a:p>
            <a:r>
              <a:rPr lang="en-GB" dirty="0"/>
              <a:t>Explain the origin of my data and why I wanted to analyse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877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Explain the rules of powerlifting</a:t>
            </a:r>
          </a:p>
          <a:p>
            <a:pPr marL="171450" indent="-171450">
              <a:buFontTx/>
              <a:buChar char="-"/>
            </a:pPr>
            <a:r>
              <a:rPr lang="en-GB" dirty="0"/>
              <a:t>Explain subset of data used for analysis – men between 2005 and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360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Explain reasons for jump from 2009 onwards – ‘raw’ equipment category, federations expanding, YouTube and Instagram taking off, etc.</a:t>
            </a:r>
          </a:p>
          <a:p>
            <a:pPr marL="171450" indent="-171450">
              <a:buFontTx/>
              <a:buChar char="-"/>
            </a:pPr>
            <a:r>
              <a:rPr lang="en-GB" dirty="0"/>
              <a:t>Explain why participation did not drop to 0 in 2020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074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Suggest reasons why USA is so dominant in the dataset</a:t>
            </a:r>
          </a:p>
          <a:p>
            <a:pPr marL="171450" indent="-171450">
              <a:buFontTx/>
              <a:buChar char="-"/>
            </a:pPr>
            <a:r>
              <a:rPr lang="en-GB" dirty="0"/>
              <a:t>Explain use of bar chart for top 10 most popular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4389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Explain why </a:t>
            </a:r>
            <a:r>
              <a:rPr lang="en-GB" dirty="0" err="1"/>
              <a:t>hexbin</a:t>
            </a:r>
            <a:r>
              <a:rPr lang="en-GB" dirty="0"/>
              <a:t> was chosen instead of a scatter plot or </a:t>
            </a:r>
            <a:r>
              <a:rPr lang="en-GB" dirty="0" err="1"/>
              <a:t>kde</a:t>
            </a:r>
            <a:r>
              <a:rPr lang="en-GB" dirty="0"/>
              <a:t> distribution plot</a:t>
            </a:r>
          </a:p>
          <a:p>
            <a:pPr marL="171450" indent="-171450">
              <a:buFontTx/>
              <a:buChar char="-"/>
            </a:pPr>
            <a:r>
              <a:rPr lang="en-GB" dirty="0"/>
              <a:t>Explain distribution and why ages below 14 were cut off – they had unrealistically high Totals, so were likely entered incorrectly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918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Explain why it could be expected for performance to change over time more than it apparently has (is the sport becoming more extreme?)</a:t>
            </a:r>
          </a:p>
          <a:p>
            <a:pPr marL="171450" indent="-171450">
              <a:buFontTx/>
              <a:buChar char="-"/>
            </a:pPr>
            <a:r>
              <a:rPr lang="en-GB" dirty="0"/>
              <a:t>Suggestions for slight decrease post-2010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620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Provide suggestions for sigmoid and plateau such as training age (most strength increase is in first 3 years of training)</a:t>
            </a:r>
          </a:p>
          <a:p>
            <a:pPr marL="171450" indent="-171450">
              <a:buFontTx/>
              <a:buChar char="-"/>
            </a:pPr>
            <a:r>
              <a:rPr lang="en-GB" dirty="0"/>
              <a:t>Provide suggestions for increased spread of data at higher bodyweight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6412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Explanation of leverages and ROM</a:t>
            </a:r>
          </a:p>
          <a:p>
            <a:pPr marL="171450" indent="-171450">
              <a:buFontTx/>
              <a:buChar char="-"/>
            </a:pPr>
            <a:r>
              <a:rPr lang="en-GB" dirty="0"/>
              <a:t>Wrote function that plots this heatmap for any weight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93125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- Explain inconsistent data entries using </a:t>
            </a:r>
            <a:r>
              <a:rPr lang="en-GB" dirty="0" err="1"/>
              <a:t>msno</a:t>
            </a:r>
            <a:r>
              <a:rPr lang="en-GB" dirty="0"/>
              <a:t>/barcode-style figure</a:t>
            </a:r>
          </a:p>
          <a:p>
            <a:r>
              <a:rPr lang="en-GB" dirty="0"/>
              <a:t>- Explain choropleth and why it wasn’t a good choice of visualisation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4021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5915B-9BBD-4B02-A487-D4CE5E44E4C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9638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B282C-D80B-651B-39E1-07BCC1DC4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8AB8D4-CCED-CAF7-5CA2-A94AA78BD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9418A-F9D1-A8AF-093D-1D7D6CBC4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AAAE5-7B26-4DD9-576B-20A05DD7E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95AFA-0F39-519E-16F1-F150F21EE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410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6532-FB5F-06C9-BBC4-67CDC626B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B6-ED14-2EE6-143A-5FB42C684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4B4F9-005C-BF7A-A6E3-797E9A5D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90EAA-0B24-1553-250F-0237C9FFC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94FFF-1CE0-6287-4224-CF2EC528E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5041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512C-B40E-91A5-AF1A-2E1D19008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5787F9-7DC2-8D5C-095D-DD08F2CE5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13635-744F-5DA8-E252-0A6611631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D5E2EF-E7CE-310B-15EB-A4C7BE245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F746ED-8B05-9326-9573-9736C04EC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889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7BF8C-B77F-D9EA-F3C8-66DC0AE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C94559-D3BA-64BF-47D8-DF82375E1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B1E8C5-42BB-9266-7F5F-5D6A8D7011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B41F8-D5DB-B9E6-987C-A1149CB50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FE5FFA-C855-3421-C68E-02642B9F7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A5BBD3-0DFA-2EDF-D935-818EFC1BA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493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E5410-C777-0536-3B65-BED4CAD4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E06B9-F018-A8FA-F455-8B39CD5D9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F5CCA-7E7B-EEDC-9280-DAE68B7F1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EEA43-0BC4-A39B-1046-BD1A12FD2F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C3500-0859-27DB-4018-ED1D01B250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2553E1-38F3-C0AD-4C8B-1F56478C3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977413-0218-C46B-8A89-6CE53D21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6F955D-BDBB-2433-78D0-27D2468B8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6366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1F8CB-5C59-5CCE-FC85-43A0CB0F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08387F-1A49-14D5-9814-A40986F76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5AD9A-3E65-61F5-19BB-663DC3977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59401C-D63C-F9D0-560F-49DFFBF6F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1276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10B152-3820-5B1D-D272-710533670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4BDF9A-9481-2319-7E7F-6B34E5D6C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12369-1910-781E-CC78-FDD5C3697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0322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DA7-0C3A-1A62-07BF-EE8A599D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4BB2A-7611-2DD8-466C-2A5EC26D9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5A729A-B820-81E4-DA6A-E80B1C5195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2651E-48CC-27ED-8831-4E987FB40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3FABF7-47FF-3D15-702B-495F2F548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7109E6-B44E-EB4D-6845-A8A885357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236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DD6C2-DBD9-FD89-D11F-5D3DDDB4D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87FB20-E5A5-E10C-9985-6F2E9E289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CAAB7-A0C7-67F5-F2EE-C2473FAB34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875C60-F850-A1E2-ED7D-8FFA8A906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4848D-D895-F166-25C3-2B0E84A9A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6A3C64-D342-8E77-CF23-7C6B45AC5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29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FF69C-3493-A533-9899-3F97BB4F8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DC0B18-2048-A9C5-7FFF-5EBAC740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D1979-657A-ADE4-7DBB-9AEF9F5B6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02D24-B1BC-0655-E570-0B026C1A6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FFB03-7BE7-4046-E2FF-1A903A6D4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2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120554-7EC4-DDEE-679A-F86E0408C1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DC5761-A2DC-C744-FAB7-327378DB2F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2C476-7B74-DADA-5C69-9938E7623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89E70-AA54-2D47-400C-7B16A9571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45737-4960-F355-FEDC-D29D9CB8C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489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45F98A-CDFF-21C6-25B1-65E1BF0A3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3B6276-8DFF-B17C-A599-274DCE18B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B7FBB-9248-E4DE-5EB9-7A00087DA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FF64A-EB50-4963-BEE8-EEA90A954A85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E08C14-6C38-AFCC-5678-879014A36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040BE-4BFB-8E62-BA17-C5B1468A53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D7F8-5823-435D-95D7-812C13DE147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7893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Nottingham Strong: Read Reviews and Book Classes on ClassPass">
            <a:extLst>
              <a:ext uri="{FF2B5EF4-FFF2-40B4-BE49-F238E27FC236}">
                <a16:creationId xmlns:a16="http://schemas.microsoft.com/office/drawing/2014/main" id="{926C5C63-7D78-4FF6-A46B-0C1C0F9F5B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2"/>
          <a:stretch>
            <a:fillRect/>
          </a:stretch>
        </p:blipFill>
        <p:spPr bwMode="auto">
          <a:xfrm>
            <a:off x="-217715" y="-106"/>
            <a:ext cx="13045440" cy="7343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52AF81-892D-7F9D-421E-67F8441F5D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>
                <a:solidFill>
                  <a:srgbClr val="FF0000"/>
                </a:solidFill>
                <a:latin typeface="Arial Black" panose="020B0A04020102020204" pitchFamily="34" charset="0"/>
              </a:rPr>
              <a:t>Freeform Programming Assessment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58EC7-FD26-2031-B047-6E6D6EEC24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  <a:latin typeface="Arial Black" panose="020B0A04020102020204" pitchFamily="34" charset="0"/>
              </a:rPr>
              <a:t>Topic - Powerlifting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33D4FB6-7CC0-60FD-7E81-1B600193801F}"/>
              </a:ext>
            </a:extLst>
          </p:cNvPr>
          <p:cNvSpPr txBox="1">
            <a:spLocks/>
          </p:cNvSpPr>
          <p:nvPr/>
        </p:nvSpPr>
        <p:spPr>
          <a:xfrm>
            <a:off x="-1371600" y="6372225"/>
            <a:ext cx="6219825" cy="971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>
                <a:solidFill>
                  <a:srgbClr val="FF0000"/>
                </a:solidFill>
                <a:latin typeface="Arial Black" panose="020B0A04020102020204" pitchFamily="34" charset="0"/>
              </a:rPr>
              <a:t>Photo: Nottingham Strong</a:t>
            </a:r>
          </a:p>
        </p:txBody>
      </p:sp>
    </p:spTree>
    <p:extLst>
      <p:ext uri="{BB962C8B-B14F-4D97-AF65-F5344CB8AC3E}">
        <p14:creationId xmlns:p14="http://schemas.microsoft.com/office/powerpoint/2010/main" val="1641536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423F-7669-24E8-A436-BDA19DE4F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0E1B6-1B00-5419-8583-F7D019DD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Introduction to Powerlifting</a:t>
            </a:r>
          </a:p>
          <a:p>
            <a:r>
              <a:rPr lang="en-GB" dirty="0"/>
              <a:t>Growth of the sport over recent years</a:t>
            </a:r>
          </a:p>
          <a:p>
            <a:r>
              <a:rPr lang="en-GB" dirty="0"/>
              <a:t>Demographic and Distribution of the data</a:t>
            </a:r>
          </a:p>
          <a:p>
            <a:r>
              <a:rPr lang="en-GB" dirty="0"/>
              <a:t>Performance trends over time</a:t>
            </a:r>
          </a:p>
          <a:p>
            <a:r>
              <a:rPr lang="en-GB" dirty="0"/>
              <a:t>Strength vs Bodyweight</a:t>
            </a:r>
          </a:p>
          <a:p>
            <a:r>
              <a:rPr lang="en-GB" dirty="0"/>
              <a:t>Correlations between each lift</a:t>
            </a:r>
          </a:p>
          <a:p>
            <a:r>
              <a:rPr lang="en-GB" dirty="0"/>
              <a:t>Challenges</a:t>
            </a:r>
          </a:p>
          <a:p>
            <a:r>
              <a:rPr lang="en-GB" dirty="0"/>
              <a:t>Future Work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5341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F310D-5985-FA41-D37D-AD2CFBF88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to Powerlifting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76710-2B7C-0838-C6DD-11CAA6AC92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72800" cy="4351338"/>
          </a:xfrm>
        </p:spPr>
        <p:txBody>
          <a:bodyPr/>
          <a:lstStyle/>
          <a:p>
            <a:r>
              <a:rPr lang="en-GB" dirty="0"/>
              <a:t>Strength sport comprised of three lifts: </a:t>
            </a:r>
            <a:r>
              <a:rPr lang="en-GB" b="1" dirty="0"/>
              <a:t>Squat, Bench Press, and Deadlift</a:t>
            </a:r>
          </a:p>
          <a:p>
            <a:endParaRPr lang="en-GB" b="1" dirty="0"/>
          </a:p>
          <a:p>
            <a:r>
              <a:rPr lang="en-GB" dirty="0"/>
              <a:t>Competitors are grouped by sex, age, and bodyweight class</a:t>
            </a:r>
          </a:p>
          <a:p>
            <a:endParaRPr lang="en-GB" dirty="0"/>
          </a:p>
          <a:p>
            <a:r>
              <a:rPr lang="en-GB" dirty="0"/>
              <a:t>Performance is ranked by the </a:t>
            </a:r>
            <a:r>
              <a:rPr lang="en-GB" b="1" dirty="0"/>
              <a:t>total </a:t>
            </a:r>
            <a:r>
              <a:rPr lang="en-GB" dirty="0"/>
              <a:t>weight lifted across the three lifts</a:t>
            </a:r>
          </a:p>
        </p:txBody>
      </p:sp>
      <p:pic>
        <p:nvPicPr>
          <p:cNvPr id="1026" name="Picture 2" descr="Squat Bench Deadlift Logo, HD Png Download , Transparent Png ...">
            <a:extLst>
              <a:ext uri="{FF2B5EF4-FFF2-40B4-BE49-F238E27FC236}">
                <a16:creationId xmlns:a16="http://schemas.microsoft.com/office/drawing/2014/main" id="{2D45F3D4-5101-3A98-0830-F0320FEEA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325" y="4371975"/>
            <a:ext cx="4320268" cy="241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3ABE7D-527C-DF14-327C-14D2EDD7F643}"/>
              </a:ext>
            </a:extLst>
          </p:cNvPr>
          <p:cNvSpPr txBox="1"/>
          <p:nvPr/>
        </p:nvSpPr>
        <p:spPr>
          <a:xfrm>
            <a:off x="104775" y="6253311"/>
            <a:ext cx="3705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Image: https://uk.pinterest.com/pin/942870871998359457/</a:t>
            </a:r>
          </a:p>
        </p:txBody>
      </p:sp>
    </p:spTree>
    <p:extLst>
      <p:ext uri="{BB962C8B-B14F-4D97-AF65-F5344CB8AC3E}">
        <p14:creationId xmlns:p14="http://schemas.microsoft.com/office/powerpoint/2010/main" val="1202273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13BA0-F068-DCF0-E2EE-4BE68880D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535" y="365125"/>
            <a:ext cx="10515600" cy="1325563"/>
          </a:xfrm>
        </p:spPr>
        <p:txBody>
          <a:bodyPr/>
          <a:lstStyle/>
          <a:p>
            <a:r>
              <a:rPr lang="en-GB" dirty="0"/>
              <a:t>Growing Sport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B1DC6-986F-6703-FC41-68CE31F5F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783" y="1690688"/>
            <a:ext cx="4804954" cy="4351338"/>
          </a:xfrm>
        </p:spPr>
        <p:txBody>
          <a:bodyPr>
            <a:normAutofit/>
          </a:bodyPr>
          <a:lstStyle/>
          <a:p>
            <a:r>
              <a:rPr lang="en-GB" sz="2600" dirty="0"/>
              <a:t>Has seen a surge in popularity in recent years</a:t>
            </a:r>
          </a:p>
          <a:p>
            <a:endParaRPr lang="en-GB" sz="2600" dirty="0"/>
          </a:p>
          <a:p>
            <a:r>
              <a:rPr lang="en-GB" sz="2600" dirty="0"/>
              <a:t>Many factors around 2009 could have influenced the sharp increase</a:t>
            </a:r>
          </a:p>
          <a:p>
            <a:endParaRPr lang="en-GB" sz="2600" dirty="0"/>
          </a:p>
          <a:p>
            <a:r>
              <a:rPr lang="en-GB" sz="2600" dirty="0"/>
              <a:t>Drop in participation in 2020 due to COVID-19 and lockdowns</a:t>
            </a:r>
          </a:p>
          <a:p>
            <a:endParaRPr lang="en-GB" sz="1800" dirty="0"/>
          </a:p>
        </p:txBody>
      </p:sp>
      <p:pic>
        <p:nvPicPr>
          <p:cNvPr id="8" name="Picture 7" descr="A graph with a line and a red dot&#10;&#10;AI-generated content may be incorrect.">
            <a:extLst>
              <a:ext uri="{FF2B5EF4-FFF2-40B4-BE49-F238E27FC236}">
                <a16:creationId xmlns:a16="http://schemas.microsoft.com/office/drawing/2014/main" id="{958F027D-1AF8-3C26-0D27-FF7035A895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0225" y="1080386"/>
            <a:ext cx="6431215" cy="485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69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D3E3E-0BEA-64A5-6B02-0FF06ADAB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5"/>
            <a:ext cx="10515600" cy="1325563"/>
          </a:xfrm>
        </p:spPr>
        <p:txBody>
          <a:bodyPr/>
          <a:lstStyle/>
          <a:p>
            <a:r>
              <a:rPr lang="en-GB" dirty="0"/>
              <a:t>Demographic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A8A4B-E4BF-8A91-3DBA-CC6913E6D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50" y="1690688"/>
            <a:ext cx="4665616" cy="4351338"/>
          </a:xfrm>
        </p:spPr>
        <p:txBody>
          <a:bodyPr>
            <a:normAutofit lnSpcReduction="10000"/>
          </a:bodyPr>
          <a:lstStyle/>
          <a:p>
            <a:r>
              <a:rPr lang="en-GB" sz="2600" dirty="0"/>
              <a:t>USA appears to host the most meets</a:t>
            </a:r>
          </a:p>
          <a:p>
            <a:endParaRPr lang="en-GB" sz="2600" dirty="0"/>
          </a:p>
          <a:p>
            <a:r>
              <a:rPr lang="en-GB" sz="2600" dirty="0"/>
              <a:t>Russia, Ukraine, Canada, and England also have large participation</a:t>
            </a:r>
          </a:p>
          <a:p>
            <a:endParaRPr lang="en-GB" sz="2600" dirty="0"/>
          </a:p>
          <a:p>
            <a:r>
              <a:rPr lang="en-GB" sz="2600" dirty="0"/>
              <a:t>Lifter nationality data was missing for over 650,000 people – meet country is a better indicator</a:t>
            </a:r>
          </a:p>
        </p:txBody>
      </p:sp>
      <p:pic>
        <p:nvPicPr>
          <p:cNvPr id="6" name="Picture 5" descr="A graph of a number of countries/regions&#10;&#10;AI-generated content may be incorrect.">
            <a:extLst>
              <a:ext uri="{FF2B5EF4-FFF2-40B4-BE49-F238E27FC236}">
                <a16:creationId xmlns:a16="http://schemas.microsoft.com/office/drawing/2014/main" id="{69AA037A-A47D-C8ED-77CB-CEC2E4724F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3766" y="1255834"/>
            <a:ext cx="7009857" cy="474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047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F716C-6879-9FAB-3E95-B20C927AD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426084"/>
            <a:ext cx="10515600" cy="1325563"/>
          </a:xfrm>
        </p:spPr>
        <p:txBody>
          <a:bodyPr/>
          <a:lstStyle/>
          <a:p>
            <a:r>
              <a:rPr lang="en-GB" dirty="0"/>
              <a:t>Distribution of Weight Lifted across 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21749-2CBB-92A7-FDCD-726C225B8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" y="1751647"/>
            <a:ext cx="6366143" cy="4351338"/>
          </a:xfrm>
        </p:spPr>
        <p:txBody>
          <a:bodyPr>
            <a:normAutofit/>
          </a:bodyPr>
          <a:lstStyle/>
          <a:p>
            <a:r>
              <a:rPr lang="en-GB" sz="2600" dirty="0"/>
              <a:t>The dataset has a high concentration of lifters aged 18-25 years</a:t>
            </a:r>
          </a:p>
          <a:p>
            <a:endParaRPr lang="en-GB" sz="2600" dirty="0"/>
          </a:p>
          <a:p>
            <a:r>
              <a:rPr lang="en-GB" sz="2600" dirty="0"/>
              <a:t>People of this age tend to total between 400kg – 600kg</a:t>
            </a:r>
          </a:p>
          <a:p>
            <a:endParaRPr lang="en-GB" sz="2600" dirty="0"/>
          </a:p>
          <a:p>
            <a:r>
              <a:rPr lang="en-GB" sz="2600" dirty="0"/>
              <a:t>Peak strength appears to occur around 25-30, and then decrease as age increases</a:t>
            </a:r>
          </a:p>
        </p:txBody>
      </p:sp>
      <p:pic>
        <p:nvPicPr>
          <p:cNvPr id="5" name="Picture 4" descr="A chart of a diagram&#10;&#10;AI-generated content may be incorrect.">
            <a:extLst>
              <a:ext uri="{FF2B5EF4-FFF2-40B4-BE49-F238E27FC236}">
                <a16:creationId xmlns:a16="http://schemas.microsoft.com/office/drawing/2014/main" id="{E37BCE41-CAB8-B555-B2E0-2571587BC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1569630"/>
            <a:ext cx="5661018" cy="441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6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021B-1019-5750-1221-78479D69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55600"/>
            <a:ext cx="10515600" cy="1325563"/>
          </a:xfrm>
        </p:spPr>
        <p:txBody>
          <a:bodyPr/>
          <a:lstStyle/>
          <a:p>
            <a:r>
              <a:rPr lang="en-GB" dirty="0"/>
              <a:t>Performance Change?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FC11D-57F5-5EC0-A365-7638EC164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825625"/>
            <a:ext cx="5858692" cy="4351338"/>
          </a:xfrm>
        </p:spPr>
        <p:txBody>
          <a:bodyPr>
            <a:normAutofit/>
          </a:bodyPr>
          <a:lstStyle/>
          <a:p>
            <a:r>
              <a:rPr lang="en-GB" sz="2600" dirty="0"/>
              <a:t>Used the mean Total Kg lifted for the 5 most common weight classes</a:t>
            </a:r>
          </a:p>
          <a:p>
            <a:endParaRPr lang="en-GB" sz="2600" dirty="0"/>
          </a:p>
          <a:p>
            <a:r>
              <a:rPr lang="en-GB" sz="2600" dirty="0"/>
              <a:t>Some decrease around 2010 for 100kg, 90kg, and 82.5kg</a:t>
            </a:r>
          </a:p>
          <a:p>
            <a:endParaRPr lang="en-GB" sz="2600" dirty="0"/>
          </a:p>
          <a:p>
            <a:r>
              <a:rPr lang="en-GB" sz="2600" dirty="0"/>
              <a:t>The 83kg and 93kg classes were only added in 2010 when federations such as the IPF began to use it</a:t>
            </a:r>
          </a:p>
        </p:txBody>
      </p:sp>
      <p:pic>
        <p:nvPicPr>
          <p:cNvPr id="6" name="Picture 5" descr="A graph of weight class&#10;&#10;AI-generated content may be incorrect.">
            <a:extLst>
              <a:ext uri="{FF2B5EF4-FFF2-40B4-BE49-F238E27FC236}">
                <a16:creationId xmlns:a16="http://schemas.microsoft.com/office/drawing/2014/main" id="{522CC142-2C14-4653-A98A-B85B9D19D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398" y="857024"/>
            <a:ext cx="5817986" cy="564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349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ADBE4-BA12-3A4C-B94D-77906D51B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365125"/>
            <a:ext cx="10515600" cy="1325563"/>
          </a:xfrm>
        </p:spPr>
        <p:txBody>
          <a:bodyPr/>
          <a:lstStyle/>
          <a:p>
            <a:r>
              <a:rPr lang="en-GB" dirty="0"/>
              <a:t>Strength vs Bodyweight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F41B-15DC-156E-7429-ACE3FCA1C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25" y="1825625"/>
            <a:ext cx="5603781" cy="4351338"/>
          </a:xfrm>
        </p:spPr>
        <p:txBody>
          <a:bodyPr>
            <a:normAutofit/>
          </a:bodyPr>
          <a:lstStyle/>
          <a:p>
            <a:r>
              <a:rPr lang="en-GB" sz="2600" dirty="0"/>
              <a:t>Mean total lifted generally increases with bodyweight</a:t>
            </a:r>
          </a:p>
          <a:p>
            <a:endParaRPr lang="en-GB" sz="2600" dirty="0"/>
          </a:p>
          <a:p>
            <a:r>
              <a:rPr lang="en-GB" sz="2600" dirty="0"/>
              <a:t>Sigmoidal model has higher R</a:t>
            </a:r>
            <a:r>
              <a:rPr lang="en-GB" sz="2600" baseline="30000" dirty="0"/>
              <a:t>2</a:t>
            </a:r>
            <a:r>
              <a:rPr lang="en-GB" sz="2600" dirty="0"/>
              <a:t> than linear, suggesting the relationship is non-linear</a:t>
            </a:r>
          </a:p>
          <a:p>
            <a:endParaRPr lang="en-GB" sz="2600" dirty="0"/>
          </a:p>
          <a:p>
            <a:r>
              <a:rPr lang="en-GB" sz="2600" dirty="0"/>
              <a:t>The plateau could suggest a number of biomechanical constraints</a:t>
            </a:r>
          </a:p>
        </p:txBody>
      </p:sp>
      <p:pic>
        <p:nvPicPr>
          <p:cNvPr id="5" name="Picture 4" descr="A graph of a number of numbers and a line&#10;&#10;AI-generated content may be incorrect.">
            <a:extLst>
              <a:ext uri="{FF2B5EF4-FFF2-40B4-BE49-F238E27FC236}">
                <a16:creationId xmlns:a16="http://schemas.microsoft.com/office/drawing/2014/main" id="{BAA7181E-07D1-BDCE-EE47-DFF8256F4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150" y="1027906"/>
            <a:ext cx="6419850" cy="505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410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DC9E9-62B9-C8D6-76C9-7EF0CD00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09621"/>
            <a:ext cx="10515600" cy="1325563"/>
          </a:xfrm>
        </p:spPr>
        <p:txBody>
          <a:bodyPr/>
          <a:lstStyle/>
          <a:p>
            <a:r>
              <a:rPr lang="en-GB" dirty="0"/>
              <a:t>Correlations between Lifts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8EEA8-9823-7C7E-0EEC-815FB8756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375" y="1825625"/>
            <a:ext cx="6080693" cy="4351338"/>
          </a:xfrm>
        </p:spPr>
        <p:txBody>
          <a:bodyPr>
            <a:normAutofit/>
          </a:bodyPr>
          <a:lstStyle/>
          <a:p>
            <a:r>
              <a:rPr lang="en-GB" sz="2600" dirty="0"/>
              <a:t>Example shown is for 100kg weight class</a:t>
            </a:r>
          </a:p>
          <a:p>
            <a:endParaRPr lang="en-GB" sz="2600" dirty="0"/>
          </a:p>
          <a:p>
            <a:r>
              <a:rPr lang="en-GB" sz="2600" dirty="0"/>
              <a:t>Bench press and deadlift have the weakest correlation</a:t>
            </a:r>
          </a:p>
          <a:p>
            <a:endParaRPr lang="en-GB" sz="2600" dirty="0"/>
          </a:p>
          <a:p>
            <a:r>
              <a:rPr lang="en-GB" sz="2600" dirty="0"/>
              <a:t>Leverages and range of motion could contribute to this – for example, arm length</a:t>
            </a:r>
          </a:p>
        </p:txBody>
      </p:sp>
      <p:pic>
        <p:nvPicPr>
          <p:cNvPr id="7" name="Picture 6" descr="A diagram of a heatmap&#10;&#10;AI-generated content may be incorrect.">
            <a:extLst>
              <a:ext uri="{FF2B5EF4-FFF2-40B4-BE49-F238E27FC236}">
                <a16:creationId xmlns:a16="http://schemas.microsoft.com/office/drawing/2014/main" id="{DC2DD4B6-89F7-E345-488B-0B1D65815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974" y="1431832"/>
            <a:ext cx="5848689" cy="481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334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151B9-0AF5-AE4D-AE49-B0D0612C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365125"/>
            <a:ext cx="2838450" cy="1325563"/>
          </a:xfrm>
        </p:spPr>
        <p:txBody>
          <a:bodyPr/>
          <a:lstStyle/>
          <a:p>
            <a:r>
              <a:rPr lang="en-GB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DFF8-53EF-F794-B22B-D4280C9DD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1825625"/>
            <a:ext cx="5257800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Downloaded .csv file was 700MB – had to cut out some data before making my initial Git repository </a:t>
            </a:r>
          </a:p>
          <a:p>
            <a:endParaRPr lang="en-GB" dirty="0"/>
          </a:p>
          <a:p>
            <a:r>
              <a:rPr lang="en-GB" dirty="0"/>
              <a:t>Large dataset with many missing, inconsistent, and erroneous entries</a:t>
            </a:r>
          </a:p>
          <a:p>
            <a:endParaRPr lang="en-GB" dirty="0"/>
          </a:p>
          <a:p>
            <a:r>
              <a:rPr lang="en-GB" dirty="0"/>
              <a:t>Overrepresentation of the USA in the data meant that visualisations such as choropleths were unhelpful</a:t>
            </a:r>
          </a:p>
          <a:p>
            <a:endParaRPr lang="en-GB" dirty="0"/>
          </a:p>
        </p:txBody>
      </p:sp>
      <p:pic>
        <p:nvPicPr>
          <p:cNvPr id="5" name="Picture 4" descr="A map of the world&#10;&#10;AI-generated content may be incorrect.">
            <a:extLst>
              <a:ext uri="{FF2B5EF4-FFF2-40B4-BE49-F238E27FC236}">
                <a16:creationId xmlns:a16="http://schemas.microsoft.com/office/drawing/2014/main" id="{8D3871D2-894F-F025-2173-248BB3CF7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726" y="4286250"/>
            <a:ext cx="4478520" cy="2300288"/>
          </a:xfrm>
          <a:prstGeom prst="rect">
            <a:avLst/>
          </a:prstGeom>
        </p:spPr>
      </p:pic>
      <p:pic>
        <p:nvPicPr>
          <p:cNvPr id="10" name="Picture 9" descr="A black and white bar code&#10;&#10;AI-generated content may be incorrect.">
            <a:extLst>
              <a:ext uri="{FF2B5EF4-FFF2-40B4-BE49-F238E27FC236}">
                <a16:creationId xmlns:a16="http://schemas.microsoft.com/office/drawing/2014/main" id="{6065BB1D-A8E8-61D0-9328-CCD56FB4F8D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62986" y="681036"/>
            <a:ext cx="6600426" cy="301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541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6112033-15C7-96B9-64E1-24F0A5E2C404}"/>
              </a:ext>
            </a:extLst>
          </p:cNvPr>
          <p:cNvSpPr txBox="1">
            <a:spLocks/>
          </p:cNvSpPr>
          <p:nvPr/>
        </p:nvSpPr>
        <p:spPr>
          <a:xfrm>
            <a:off x="628651" y="447675"/>
            <a:ext cx="401002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Future Work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2E6CFA2-FAE5-F419-177C-0F34BA2A4C55}"/>
              </a:ext>
            </a:extLst>
          </p:cNvPr>
          <p:cNvSpPr txBox="1">
            <a:spLocks/>
          </p:cNvSpPr>
          <p:nvPr/>
        </p:nvSpPr>
        <p:spPr>
          <a:xfrm>
            <a:off x="628649" y="1825625"/>
            <a:ext cx="101727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Extend analysis to female competitors – do the same trends and distributions hold?</a:t>
            </a:r>
          </a:p>
          <a:p>
            <a:endParaRPr lang="en-GB" dirty="0"/>
          </a:p>
          <a:p>
            <a:r>
              <a:rPr lang="en-GB" dirty="0"/>
              <a:t>Investigate raw vs equipment, and drug tested vs untested</a:t>
            </a:r>
          </a:p>
          <a:p>
            <a:endParaRPr lang="en-GB" dirty="0"/>
          </a:p>
          <a:p>
            <a:r>
              <a:rPr lang="en-GB" dirty="0"/>
              <a:t>Percentile-based performance trends to see changes at elite-level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42919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3362</TotalTime>
  <Words>633</Words>
  <Application>Microsoft Office PowerPoint</Application>
  <PresentationFormat>Widescreen</PresentationFormat>
  <Paragraphs>95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Calibri Light</vt:lpstr>
      <vt:lpstr>Office Theme</vt:lpstr>
      <vt:lpstr>Freeform Programming Assessment</vt:lpstr>
      <vt:lpstr>Contents</vt:lpstr>
      <vt:lpstr>Introduction to Powerlifting</vt:lpstr>
      <vt:lpstr>Growing Sport</vt:lpstr>
      <vt:lpstr>Demographic</vt:lpstr>
      <vt:lpstr>Distribution of Weight Lifted across Ages</vt:lpstr>
      <vt:lpstr>Performance Change?</vt:lpstr>
      <vt:lpstr>Strength vs Bodyweight</vt:lpstr>
      <vt:lpstr>Correlations between Lifts</vt:lpstr>
      <vt:lpstr>Challenges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 Lawrence</dc:creator>
  <cp:lastModifiedBy>Will Lawrence</cp:lastModifiedBy>
  <cp:revision>22</cp:revision>
  <dcterms:created xsi:type="dcterms:W3CDTF">2025-12-08T14:18:09Z</dcterms:created>
  <dcterms:modified xsi:type="dcterms:W3CDTF">2025-12-22T15:34:24Z</dcterms:modified>
</cp:coreProperties>
</file>